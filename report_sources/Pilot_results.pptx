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presentations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Pilot_results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Quarto enables you to weave together content and executable code into a finished presentation. To learn more about Quarto presentations see </a:t>
            </a:r>
            <a:r>
              <a:rPr>
                <a:hlinkClick r:id="rId2"/>
              </a:rPr>
              <a:t>https://quarto.org/docs/presentations/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click the </a:t>
            </a:r>
            <a:r>
              <a:rPr b="1"/>
              <a:t>Render</a:t>
            </a:r>
            <a:r>
              <a:rPr/>
              <a:t> button a document will be generated that includes:</a:t>
            </a:r>
          </a:p>
          <a:p>
            <a:pPr lvl="0"/>
            <a:r>
              <a:rPr/>
              <a:t>Content authored with markdown</a:t>
            </a:r>
          </a:p>
          <a:p>
            <a:pPr lvl="0"/>
            <a:r>
              <a:rPr/>
              <a:t>Output from executable code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click the </a:t>
            </a:r>
            <a:r>
              <a:rPr b="1"/>
              <a:t>Render</a:t>
            </a:r>
            <a:r>
              <a:rPr/>
              <a:t> button a presentation will be generated that includes both content and the output of embedded code. You can embed code like this: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API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packages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Tabla 1. Biomarcadores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2882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Caraterísticas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  <a:r>
                        <a:rPr/>
                        <a:t> (n = 75)</a:t>
                      </a:r>
                      <a:r>
                        <a:rPr baseline="300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Cluster 1</a:t>
                      </a:r>
                      <a:r>
                        <a:rPr/>
                        <a:t> (n = 46)</a:t>
                      </a:r>
                      <a:r>
                        <a:rPr baseline="300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Cluster 2</a:t>
                      </a:r>
                      <a:r>
                        <a:rPr/>
                        <a:t> (n = 29)</a:t>
                      </a:r>
                      <a:r>
                        <a:rPr baseline="300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p-value</a:t>
                      </a:r>
                      <a:r>
                        <a:rPr baseline="30000"/>
                        <a:t>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Glucosa en ayunas (mg/dL)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86.00 (82.00, 91.00)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87.00 (83.00, 93.00)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83.00 (80.00, 89.00)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Triglicéridos (mg/dL)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100.00 (77.00, 123.00)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100.00 (76.00, 123.00)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102.00 (78.00, 121.00)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HDL-c (mg/dL)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43.00 (36.00, 51.00)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42.50 (36.00, 50.00)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44.00 (38.00, 51.00)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0.439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Colesterol total (mg/dL)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134.00 (110.00, 158.00)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122.00 (104.00, 154.00)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143.00 (122.00, 158.00)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Presión arterial sistólica (mmHg)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101.83 (93.67, 106.00)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102.00 (96.33, 109.00)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100.67 (91.67, 104.67)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Presión arterial diastólica (mmHg)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63.83 (59.67, 68.33)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64.00 (59.00, 71.00)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62.33 (60.33, 67.33)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Frecuencia cardíaca (latidos por minuto)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83.00 (78.00, 90.33)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83.67 (78.00, 92.67)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82.67 (78.33, 87.33)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aseline="30000"/>
                        <a:t>1</a:t>
                      </a:r>
                      <a:r>
                        <a:rPr/>
                        <a:t> Median (Q1, Q3)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aseline="30000"/>
                        <a:t>2</a:t>
                      </a:r>
                      <a:r>
                        <a:rPr/>
                        <a:t> Wilcoxon rank sum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Tabla 1. Biomarcadores</a:t>
            </a:r>
            <a:r>
              <a:rPr/>
              <a:t> N = 75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Tabla 2. Antropometría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2882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000"/>
                <a:gridCol w="1651000"/>
                <a:gridCol w="1651000"/>
                <a:gridCol w="1651000"/>
                <a:gridCol w="1651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Caraterísticas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  <a:r>
                        <a:rPr/>
                        <a:t> (n = 75)</a:t>
                      </a:r>
                      <a:r>
                        <a:rPr baseline="300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Cluster 1</a:t>
                      </a:r>
                      <a:r>
                        <a:rPr/>
                        <a:t> (n = 46)</a:t>
                      </a:r>
                      <a:r>
                        <a:rPr baseline="300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Cluster 2</a:t>
                      </a:r>
                      <a:r>
                        <a:rPr/>
                        <a:t> (n = 29)</a:t>
                      </a:r>
                      <a:r>
                        <a:rPr baseline="300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p-value</a:t>
                      </a:r>
                      <a:r>
                        <a:rPr baseline="30000"/>
                        <a:t>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Sexo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0.371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Masculino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28.0 (37.3%)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19.0 (41.3%)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9.0 (31.0%)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Femenino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47.0 (62.7%)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27.0 (58.7%)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20.0 (69.0%)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Edad (años)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71.0 (94.7%)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42.0 (91.3%)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29.0 (100.0%)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 (1.3%)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 (2.2%)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3.0 (4.0%)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3.0 (6.5%)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Peso (Kg)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50.80 (43.20, 58.80)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49.75 (43.85, 58.50)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51.15 (42.60, 60.30)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0.960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Talla (metros)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1.53 (1.51, 1.57)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1.53 (1.51, 1.56)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1.54 (1.51, 1.59)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21.78 (18.62, 24.54)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21.69 (18.87, 24.18)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22.07 (18.62, 25.86)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0.885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Pliegue bicipital (mm)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13.67 (11.00, 17.67)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13.33 (10.50, 19.33)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13.75 (11.00, 16.00)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0.927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Pliegue tricipital (mm)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17.50 (14.50, 23.00)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16.50 (14.00, 20.50)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21.00 (17.50, 24.50)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Pliegue subescapular (mm)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15.17 (11.50, 21.00)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14.33 (10.00, 19.67)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17.00 (13.50, 22.00)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0.046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Perímetro del cuello (cm)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31.00 (29.60, 33.17)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31.40 (30.13, 33.00)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30.48 (29.25, 33.50)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0.197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aseline="30000"/>
                        <a:t>1</a:t>
                      </a:r>
                      <a:r>
                        <a:rPr/>
                        <a:t> n (%); Median (Q1, Q3)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aseline="30000"/>
                        <a:t>2</a:t>
                      </a:r>
                      <a:r>
                        <a:rPr/>
                        <a:t> Pearson’s Chi-squared test; Fisher’s exact test; Wilcoxon rank sum test; Wilcoxon rank sum exact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Tabla 2. Antropometría</a:t>
            </a:r>
            <a:r>
              <a:rPr/>
              <a:t> N = 75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Tabla 3. Grasa corporal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2882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000"/>
                <a:gridCol w="1651000"/>
                <a:gridCol w="1651000"/>
                <a:gridCol w="1651000"/>
                <a:gridCol w="1651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Caraterísticas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  <a:r>
                        <a:rPr/>
                        <a:t> (n = 75)</a:t>
                      </a:r>
                      <a:r>
                        <a:rPr baseline="300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Cluster 1</a:t>
                      </a:r>
                      <a:r>
                        <a:rPr/>
                        <a:t> (n = 46)</a:t>
                      </a:r>
                      <a:r>
                        <a:rPr baseline="300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Cluster 2</a:t>
                      </a:r>
                      <a:r>
                        <a:rPr/>
                        <a:t> (n = 29)</a:t>
                      </a:r>
                      <a:r>
                        <a:rPr baseline="300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p-value</a:t>
                      </a:r>
                      <a:r>
                        <a:rPr baseline="30000"/>
                        <a:t>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Perímetro de cintura (cm)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72.37 (67.05, 80.82)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72.20 (67.13, 81.13)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72.85 (66.85, 78.45)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0.648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Perímetro de cadera (cm)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84.78 (76.23, 93.22)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79.73 (72.80, 86.90)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92.45 (84.95, 96.00)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&lt;0.001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0.88 (0.81, 0.95)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0.93 (0.88, 0.99)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0.79 (0.77, 0.84)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&lt;0.001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%GC Boileau et al. (1985)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27.59 (23.40, 31.84)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26.02 (20.90, 29.92)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29.77 (26.12, 32.51)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%GC Slaughetr et al. (1988)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28.11 (24.15, 33.87)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26.54 (21.18, 30.63)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30.45 (26.63, 35.09)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%GC Deuremberg et al.(1991)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25.80 (19.90, 29.24)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25.73 (19.21, 29.15)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26.53 (20.59, 29.24)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0.646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%GC índice cintura talla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34.10 (29.87, 38.21)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32.43 (27.30, 37.33)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35.52 (32.00, 39.47)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0.062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%GC índice ponderal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34.02 (29.50, 37.86)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32.69 (27.20, 36.25)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36.16 (31.65, 39.10)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0.045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IMC para la edad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Normal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30.0 (40.0%)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19.0 (41.3%)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11.0 (37.9%)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Obesidad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22.0 (29.3%)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12.0 (26.1%)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10.0 (34.5%)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Sobrepeso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23.0 (30.7%)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15.0 (32.6%)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8.0 (27.6%)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Talla para la edad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0.125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Dato faltante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 (5.3%)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 (8.7%)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Talla muy alta (revisar)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 (1.3%)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 (0.0%)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 (3.4%)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    Talla Normal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70.0 (93.3%)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42.0 (91.3%)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28.0 (96.6%)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b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Dinamometría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17.47 (15.00, 20.08)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16.13 (12.33, 19.40)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18.18 (16.50, 20.33)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0.017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aseline="30000"/>
                        <a:t>1</a:t>
                      </a:r>
                      <a:r>
                        <a:rPr/>
                        <a:t> Median (Q1, Q3); n (%)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aseline="30000"/>
                        <a:t>2</a:t>
                      </a:r>
                      <a:r>
                        <a:rPr/>
                        <a:t> Wilcoxon rank sum exact test; Wilcoxon rank sum test; Pearson’s Chi-squared test; Fisher’s exact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Tabla 3. Grasa corporal</a:t>
            </a:r>
            <a:r>
              <a:rPr/>
              <a:t> N = 75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Pilot_results</dc:title>
  <dc:creator/>
  <cp:keywords/>
  <dcterms:created xsi:type="dcterms:W3CDTF">2025-12-17T14:16:34Z</dcterms:created>
  <dcterms:modified xsi:type="dcterms:W3CDTF">2025-12-17T14:16:34Z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