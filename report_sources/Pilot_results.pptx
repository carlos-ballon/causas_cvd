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8" Type="http://schemas.openxmlformats.org/officeDocument/2006/relationships/viewProps" Target="viewProps.xml" /><Relationship Id="rId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0" Type="http://schemas.openxmlformats.org/officeDocument/2006/relationships/tableStyles" Target="tableStyles.xml" /><Relationship Id="rId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Pilot_results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Load packages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Import data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Process data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Tabla 1. Características socioeconómicas del pariente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Tabla 2. Antecedentes de la primera infancia y actuales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Tabla 3. Antecedentes familiares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Tabla 4. Salud mental, nutrición y actividad física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Tabla 5. Exposoma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Tabla 6. Alegias, asma y rinitis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Tabla 7. International Study of Asthma and Allergies in Childhood (ISAAC)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Tabla 8. Biomarcadores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Tabla 9. Antropometría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Tabla 10. Índices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Tabla 11. Grasa corporal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Tablas unidas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000"/>
                <a:gridCol w="1651000"/>
                <a:gridCol w="1651000"/>
                <a:gridCol w="1651000"/>
                <a:gridCol w="1651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Caraterísticas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Total</a:t>
                      </a:r>
                      <a:r>
                        <a:rPr/>
                        <a:t> (n = 75)</a:t>
                      </a:r>
                      <a:r>
                        <a:rPr baseline="3000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Colegio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p-value</a:t>
                      </a:r>
                      <a:r>
                        <a:rPr baseline="30000"/>
                        <a:t>2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La Molina</a:t>
                      </a:r>
                      <a:r>
                        <a:rPr/>
                        <a:t> (n = 29)</a:t>
                      </a:r>
                      <a:r>
                        <a:rPr baseline="30000"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VMT y Pachacamac</a:t>
                      </a:r>
                      <a:r>
                        <a:rPr/>
                        <a:t> (n = 46)</a:t>
                      </a:r>
                      <a:r>
                        <a:rPr baseline="30000"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Características socioeconómicas del pariente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Pariente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0.099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    Madre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28.0 (73.7%)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7.0 (53.8%)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21.0 (84.0%)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    Padre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6.0 (15.8%)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4.0 (30.8%)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2.0 (8.0%)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    Otro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4.0 (10.5%)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2.0 (15.4%)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2.0 (8.0%)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Edad del Pariente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38.00 (32.00, 46.00)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37.50 (32.00, 42.00)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38.00 (32.00, 47.00)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0.982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Estado civil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0.315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    Conviviente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21.0 (55.3%)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5.0 (38.5%)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16.0 (64.0%)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    Soltero(a) o casado(a)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12.0 (31.6%)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6.0 (46.2%)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6.0 (24.0%)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    Otro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5.0 (13.2%)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2.0 (15.4%)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3.0 (12.0%)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Nivel educativo del pariente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0.805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    Primaria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6.0 (16.2%)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3.0 (23.1%)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3.0 (12.5%)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    Secundaria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19.0 (51.4%)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6.0 (46.2%)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13.0 (54.2%)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    Superior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12.0 (32.4%)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4.0 (30.8%)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8.0 (33.3%)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Situación económica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0.417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    Alto/Suficiente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13.0 (35.1%)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3.0 (23.1%)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10.0 (41.7%)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    Medio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9.0 (24.3%)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3.0 (23.1%)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6.0 (25.0%)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    Bajo/Vulnerable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15.0 (40.5%)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7.0 (53.8%)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8.0 (33.3%)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¿Qué tipo de seguro de salud tiene el adolescente?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&gt;0.999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    SIS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24.0 (66.7%)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7.0 (63.6%)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17.0 (68.0%)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    EsSalud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12.0 (33.3%)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4.0 (36.4%)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8.0 (32.0%)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    Privado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 (0.0%)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 (0.0%)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 (0.0%)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Años de residencia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0.856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    0-5 años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8.0 (23.5%)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2.0 (18.2%)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6.0 (26.1%)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    6-10 años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9.0 (26.5%)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3.0 (27.3%)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6.0 (26.1%)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    11-18.5 años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9.0 (26.5%)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4.0 (36.4%)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5.0 (21.7%)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    Más de 18.5 años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8.0 (23.5%)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2.0 (18.2%)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6.0 (26.1%)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Orden del hijo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0.751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    Primero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15.0 (39.5%)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4.0 (30.8%)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11.0 (44.0%)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    Segundo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15.0 (39.5%)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6.0 (46.2%)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9.0 (36.0%)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    Tercero en adelante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8.0 (21.1%)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3.0 (23.1%)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5.0 (20.0%)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Antecedentes de la primera infancia y actuales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Duración total de la lactancia (meses)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16.00 (12.00, 24.00)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18.00 (15.00, 30.00)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15.00 (11.00, 24.00)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0.199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    Unknown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Lactancia materna exclusiva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0.269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    Sí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21.0 (84.0%)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8.0 (100.0%)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13.0 (76.5%)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    No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4.0 (16.0%)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 (0.0%)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4.0 (23.5%)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    Unknown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Inicio de alimentación complementaria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0.567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    Antes de 6 meses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 (3.4%)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 (0.0%)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 (5.0%)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    A los 6 meses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21.0 (72.4%)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8.0 (88.9%)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13.0 (65.0%)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    Después de 6 meses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7.0 (24.1%)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 (11.1%)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6.0 (30.0%)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    Unknown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Hospitalización al nacer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&gt;0.999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    Sí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8.0 (21.6%)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3.0 (25.0%)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5.0 (20.0%)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    No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29.0 (78.4%)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9.0 (75.0%)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20.0 (80.0%)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    Unknown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Bajo peso al nacer o prematuridad (37 semanas)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0.278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    Sí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4.0 (10.5%)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 (0.0%)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4.0 (16.0%)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    No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34.0 (89.5%)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13.0 (100.0%)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21.0 (84.0%)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    Unknown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Macrosomía (peso mayor de 4 Kg al nacer)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&gt;0.999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    Sí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 (2.6%)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 (0.0%)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 (4.0%)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    No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37.0 (97.4%)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13.0 (100.0%)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24.0 (96.0%)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    Unknown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Enfermedades pulmonares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0.084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    Rinitis alérgica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 (2.6%)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 (0.0%)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 (4.0%)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    Asma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4.0 (10.5%)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3.0 (23.1%)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 (4.0%)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    Bronquitis crónica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3.0 (7.9%)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2.0 (15.4%)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 (4.0%)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    Ninguna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30.0 (78.9%)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8.0 (61.5%)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22.0 (88.0%)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    Unknown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Diabetes Mellitus tipo 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&gt;0.999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    Sí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 (0.0%)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 (0.0%)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 (0.0%)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    No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37.0 (100.0%)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12.0 (100.0%)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25.0 (100.0%)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    Unknown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Resistencia a la insulina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0.537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    Sí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3.0 (8.1%)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 (0.0%)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3.0 (12.0%)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    No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34.0 (91.9%)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12.0 (100.0%)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22.0 (88.0%)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    Unknown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Dislipidemia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&gt;0.999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    Sí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2.0 (5.4%)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 (8.3%)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 (4.0%)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    No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35.0 (94.6%)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11.0 (91.7%)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24.0 (96.0%)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    Unknown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Infecciones respiratorias recurrentes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0.724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    Sí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14.0 (37.8%)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4.0 (30.8%)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10.0 (41.7%)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    No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23.0 (62.2%)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9.0 (69.2%)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14.0 (58.3%)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    Unknown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Hospitalizaciones previas este año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&gt;0.999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    Sí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 (0.0%)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 (0.0%)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 (0.0%)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    No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38.0 (100.0%)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13.0 (100.0%)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25.0 (100.0%)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    Unknown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Vacunas al día este año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0.064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    Sí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26.0 (70.3%)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11.0 (91.7%)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15.0 (60.0%)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    No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11.0 (29.7%)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 (8.3%)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10.0 (40.0%)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    Unknown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Antecedentes familiares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Antecedente familiar de enfermedad pulmonar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0.235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    Sí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9.0 (25.0%)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5.0 (38.5%)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4.0 (17.4%)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    No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27.0 (75.0%)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8.0 (61.5%)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19.0 (82.6%)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Antecedente familiar de Diabetes Mellitus 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&gt;0.999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    Sí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10.0 (28.6%)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4.0 (30.8%)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6.0 (27.3%)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    No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25.0 (71.4%)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9.0 (69.2%)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16.0 (72.7%)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Antecedente familiar de HTA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0.440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    Sí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10.0 (27.8%)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5.0 (38.5%)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5.0 (21.7%)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    No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26.0 (72.2%)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8.0 (61.5%)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18.0 (78.3%)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Antecedente familiar de CVD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0.686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    Sí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7.0 (19.4%)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3.0 (23.1%)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4.0 (17.4%)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    No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29.0 (80.6%)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10.0 (76.9%)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19.0 (82.6%)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Antecedente familiar de dislipidemias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&gt;0.999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    Sí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5.0 (13.9%)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2.0 (15.4%)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3.0 (13.0%)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    No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31.0 (86.1%)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11.0 (84.6%)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20.0 (87.0%)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Antecedente familiar de cáncer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&gt;0.999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    Sí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11.0 (30.6%)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4.0 (30.8%)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7.0 (30.4%)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    No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25.0 (69.4%)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9.0 (69.2%)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16.0 (69.6%)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Antecedente familiar de obesidad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0.475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    Sí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15.0 (44.1%)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6.0 (54.5%)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9.0 (39.1%)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    No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19.0 (55.9%)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5.0 (45.5%)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14.0 (60.9%)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Otro antecedentes familiar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0.385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    Sí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6.0 (16.7%)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 (7.7%)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5.0 (21.7%)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    No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30.0 (83.3%)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12.0 (92.3%)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18.0 (78.3%)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Salud mental, nutrición y actividad física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Nerviosismo del pariente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0.518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    Nunca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14.0 (40.0%)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4.0 (30.8%)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10.0 (45.5%)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    Varios días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16.0 (45.7%)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6.0 (46.2%)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10.0 (45.5%)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    Más de la mitad de los días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4.0 (11.4%)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2.0 (15.4%)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2.0 (9.1%)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    Casi todos los días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 (2.9%)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 (7.7%)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 (0.0%)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Preocupación del pariente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0.010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    Nunca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11.0 (32.4%)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3.0 (25.0%)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8.0 (36.4%)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    Varios días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16.0 (47.1%)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3.0 (25.0%)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13.0 (59.1%)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    Más de la mitad de los días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7.0 (20.6%)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6.0 (50.0%)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 (4.5%)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    Casi todos los días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 (0.0%)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 (0.0%)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 (0.0%)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Apatía o anhedonia del pariente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0.116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    Nunca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13.0 (37.1%)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7.0 (53.8%)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6.0 (27.3%)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    Varios días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15.0 (42.9%)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3.0 (23.1%)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12.0 (54.5%)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    Más de la mitad de los días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5.0 (14.3%)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3.0 (23.1%)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2.0 (9.1%)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    Casi todos los días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2.0 (5.7%)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 (0.0%)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2.0 (9.1%)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Depresión del pariente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0.019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    Nunca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14.0 (40.0%)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5.0 (38.5%)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9.0 (40.9%)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    Varios días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17.0 (48.6%)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4.0 (30.8%)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13.0 (59.1%)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    Más de la mitad de los días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4.0 (11.4%)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4.0 (30.8%)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 (0.0%)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    Casi todos los días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 (0.0%)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 (0.0%)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 (0.0%)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Puntaje del PHQ-9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9.00 (6.00, 15.00)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10.00 (6.00, 16.00)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9.00 (5.00, 15.00)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0.220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Gravedad de la depresión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0.189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    Mínima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12.0 (16.0%)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2.0 (6.9%)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10.0 (21.7%)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    Leve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27.0 (36.0%)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11.0 (37.9%)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16.0 (34.8%)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    Moderada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13.0 (17.3%)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6.0 (20.7%)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7.0 (15.2%)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    Moderadamente severa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16.0 (21.3%)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5.0 (17.2%)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11.0 (23.9%)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    Severa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7.0 (9.3%)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5.0 (17.2%)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2.0 (4.3%)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Puntaje del GAD-7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10.00 (4.00, 19.00)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8.00 (4.00, 21.00)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11.50 (4.00, 18.00)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0.983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Trastorno de Ansiedad Generalizada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0.915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    Mínima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21.0 (28.0%)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8.0 (27.6%)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13.0 (28.3%)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    Leve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15.0 (20.0%)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7.0 (24.1%)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8.0 (17.4%)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    Moderada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12.0 (16.0%)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4.0 (13.8%)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8.0 (17.4%)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    Severa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27.0 (36.0%)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10.0 (34.5%)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17.0 (37.0%)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Puntaje del AFHS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13.90 (12.00, 18.40)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13.14 (9.47, 20.00)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14.38 (12.27, 17.77)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0.765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Dinapenia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18.40 (15.60, 20.60)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19.10 (17.10, 20.60)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16.70 (13.20, 20.40)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0.023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Hábitos alimentarios para adolescentes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0.006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    No saludable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14.0 (18.9%)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10.0 (34.5%)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4.0 (8.9%)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    Saludable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60.0 (81.1%)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19.0 (65.5%)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41.0 (91.1%)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Puntaje del PAQ-A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2.47 (2.11, 2.95)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2.36 (1.88, 2.71)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2.70 (2.14, 3.36)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0.015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Actividad física para adolescentes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0.506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    Moderadamente activo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40.0 (95.2%)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17.0 (100.0%)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23.0 (92.0%)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    Muy activo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2.0 (4.8%)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 (0.0%)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2.0 (8.0%)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Alegias, asma y rinitis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Dermatophagoides pteronyssinus (polvo)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23.0 (30.7%)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13.0 (44.8%)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10.0 (21.7%)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0.035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Dermatophagoides farinae (polvo)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23.0 (30.7%)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13.0 (44.8%)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10.0 (21.7%)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0.035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Alergia a Lepidoglyphus destructor (ácaro)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13.0 (17.3%)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7.0 (24.1%)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6.0 (13.0%)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0.216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Alergia a Blomia tropicalis (ácaro)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20.0 (26.7%)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12.0 (41.4%)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8.0 (17.4%)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0.022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Alergia al perro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3.0 (4.0%)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3.0 (10.3%)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 (0.0%)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0.054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Alergia a cucaracha chiquita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7.0 (9.3%)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 (0.0%)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7.0 (15.2%)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0.039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Asma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14.0 (18.7%)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5.0 (17.2%)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9.0 (19.6%)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0.801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Rinitis alérgica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11.0 (14.7%)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 (3.4%)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10.0 (21.7%)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0.042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Fracción Exhalada de Óxido Nítrico (FeNO)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21.00 (16.00, 29.00)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24.00 (17.00, 48.00)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19.50 (16.00, 27.00)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0.143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ISAAC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Sibilancias alguna vez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26 (35%)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 (34%)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16 (35%)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0.979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Sibilancias últimos 12 meses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 (73%)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 (60%)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13 (81%)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0.369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Asma con síntomas de severidad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14 (19%)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 (14%)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 (22%)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0.390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Rinitis actual (12m)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32 (91%)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 (100%)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24 (89%)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&gt;0.999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Rinoconjuntivitis alérgica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17 (49%)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 (38%)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14 (52%)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0.691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Eczema/Dermatitis actual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14 (82%)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 (75%)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11 (85%)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&gt;0.999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Biomarcadores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Glucosa en ayunas (mg/dL)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86.00 (82.00, 91.00)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83.00 (80.00, 89.00)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87.00 (83.00, 93.00)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0.018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Triglicéridos (mg/dL)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100.00 (77.00, 123.00)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102.00 (78.00, 121.00)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100.00 (76.00, 123.00)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0.857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HDL-c (mg/dL)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43.00 (36.00, 51.00)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44.00 (38.00, 51.00)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42.50 (36.00, 50.00)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0.439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Colesterol total (mg/dL)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134.00 (110.00, 158.00)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143.00 (122.00, 158.00)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122.00 (104.00, 154.00)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0.028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Presión arterial sistólica (mmHg)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101.83 (93.67, 106.00)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100.67 (91.67, 104.67)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102.00 (96.33, 109.00)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0.232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Presión arterial diastólica (mmHg)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63.83 (59.67, 68.33)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62.33 (60.33, 67.33)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64.00 (59.00, 71.00)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0.400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Frecuencia cardíaca (latidos por minuto)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83.00 (78.00, 90.33)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82.67 (78.33, 87.33)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83.67 (78.00, 92.67)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0.432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Índice triglicéridos-glucosa (TyG)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8.36 (8.12, 8.60)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8.35 (8.14, 8.59)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8.38 (8.11, 8.60)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0.720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Índice de adiposidad visceral (VAI)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1.56 (1.20, 2.02)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1.68 (1.22, 2.02)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1.47 (1.18, 2.10)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0.608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Fenotipo metabólico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0.867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    Metabólicamente no saludable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25 (33%)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 (34%)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15 (33%)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    Metabólicamente saludable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50 (67%)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 (66%)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31 (67%)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Antropometría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Sexo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0.371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    Masculino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28.0 (37.3%)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9.0 (31.0%)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19.0 (41.3%)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    Femenino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47.0 (62.7%)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20.0 (69.0%)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27.0 (58.7%)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Edad (años)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0.383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    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71.0 (94.7%)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29.0 (100.0%)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42.0 (91.3%)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    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 (1.3%)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 (0.0%)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 (2.2%)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    13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3.0 (4.0%)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 (0.0%)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3.0 (6.5%)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Peso (Kg)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50.80 (43.20, 58.80)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51.15 (42.60, 60.30)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49.75 (43.85, 58.50)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0.960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Talla (metros)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1.53 (1.51, 1.57)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1.54 (1.51, 1.59)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1.53 (1.51, 1.56)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0.312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IMC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21.78 (18.62, 24.54)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22.07 (18.62, 25.86)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21.69 (18.87, 24.18)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0.885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Altura para la edad (z-score)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0.732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    Normal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30.0 (40.0%)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11.0 (37.9%)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19.0 (41.3%)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    Obesidad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22.0 (29.3%)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10.0 (34.5%)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12.0 (26.1%)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    Sobrepeso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23.0 (30.7%)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8.0 (27.6%)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15.0 (32.6%)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IMC para la edad (z-score)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0.125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    Dato faltante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4.0 (5.3%)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 (0.0%)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4.0 (8.7%)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    Talla muy alta (revisar)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 (1.3%)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 (3.4%)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 (0.0%)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    Talla Normal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70.0 (93.3%)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28.0 (96.6%)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42.0 (91.3%)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Pliegue bicipital (mm)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13.67 (11.00, 17.67)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13.75 (11.00, 16.00)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13.33 (10.50, 19.33)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0.927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Pliegue tricipital (mm)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17.33 (14.58, 23.42)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20.67 (17.33, 24.50)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16.67 (14.00, 21.00)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0.008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Pliegue subescapular (mm)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15.17 (11.50, 21.00)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17.00 (13.50, 22.00)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14.33 (10.00, 19.67)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0.046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Perímetro del cuello (cm)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31.00 (29.60, 33.17)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30.48 (29.25, 33.50)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31.40 (30.13, 33.00)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0.197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Índices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Perímetro de cintura (cm)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72.37 (67.05, 80.82)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72.85 (66.85, 78.45)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72.20 (67.13, 81.13)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0.648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Perímetro de cadera (cm)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84.78 (76.23, 93.22)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92.45 (84.95, 96.00)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79.73 (72.80, 86.90)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&lt;0.001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Índice cintura-cadera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0.88 (0.81, 0.95)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0.79 (0.77, 0.84)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0.93 (0.88, 0.99)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&lt;0.001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Índice cintura-altura (ICT)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0.47 (0.44, 0.53)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0.47 (0.43, 0.51)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0.47 (0.44, 0.53)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0.713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TyG-Circunferencia de la cintura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606.60 (550.07, 694.55)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612.53 (545.44, 670.13)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603.85 (556.68, 707.29)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0.600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TyG-IMC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180.57 (151.62, 203.98)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189.89 (147.40, 215.27)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176.87 (154.78, 202.97)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0.903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TyG-ICT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3.86 (3.58, 4.52)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4.06 (3.54, 4.44)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3.85 (3.60, 4.58)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0.651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TyG-HDL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2.46 (1.68, 3.11)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2.52 (1.63, 3.11)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2.45 (1.77, 3.11)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0.944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Porcentaje de grasa corporal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%GC Boileau et al. (1985)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15.02 (11.74, 19.56)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17.12 (13.84, 20.50)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14.00 (9.92, 17.36)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0.013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%GC Slaughetr et al. (1988)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18.53 (15.08, 20.37)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19.66 (17.65, 21.76)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17.89 (12.17, 19.98)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0.036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%GC Deuremberg et al.(1991)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25.80 (19.90, 29.24)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26.53 (20.59, 29.24)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25.73 (19.21, 29.15)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0.646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%GC ICT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28.54 (24.99, 32.40)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29.16 (27.22, 32.43)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27.62 (22.15, 32.34)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0.247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%GC índice ponderal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27.95 (24.03, 31.03)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27.91 (26.61, 31.25)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28.18 (21.30, 30.67)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0.258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aseline="30000"/>
                        <a:t>1</a:t>
                      </a:r>
                      <a:r>
                        <a:rPr/>
                        <a:t> n (%); Median (Q1, Q3)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aseline="30000"/>
                        <a:t>2</a:t>
                      </a:r>
                      <a:r>
                        <a:rPr/>
                        <a:t> Fisher’s exact test; Wilcoxon rank sum test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Limpiar tablas Calculo del tamaño de muestra basada en conglomerados, para que la unidad de analisis sean colegios y no niños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Tamaño de muestra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Pilot_results</dc:title>
  <dc:creator/>
  <cp:keywords/>
  <dcterms:created xsi:type="dcterms:W3CDTF">2026-01-08T08:02:43Z</dcterms:created>
  <dcterms:modified xsi:type="dcterms:W3CDTF">2026-01-08T08:02:43Z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ditor">
    <vt:lpwstr>source</vt:lpwstr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toc-title">
    <vt:lpwstr>Table of contents</vt:lpwstr>
  </property>
</Properties>
</file>